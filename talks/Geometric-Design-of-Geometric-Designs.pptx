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EB Garamon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bold.fntdata"/><Relationship Id="rId14" Type="http://schemas.openxmlformats.org/officeDocument/2006/relationships/font" Target="fonts/EBGaramond-regular.fntdata"/><Relationship Id="rId17" Type="http://schemas.openxmlformats.org/officeDocument/2006/relationships/font" Target="fonts/EBGaramond-boldItalic.fntdata"/><Relationship Id="rId16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8668d8811eac56c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8668d8811eac56c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f12bcec1f864a27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f12bcec1f864a27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8668d8811eac56c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8668d8811eac56c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8668d8811eac56c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8668d8811eac56c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8668d8811eac56c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68668d8811eac56c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8668d8811eac56c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8668d8811eac56c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8668d8811eac56c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8668d8811eac56c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11" Type="http://schemas.openxmlformats.org/officeDocument/2006/relationships/image" Target="../media/image3.jpg"/><Relationship Id="rId10" Type="http://schemas.openxmlformats.org/officeDocument/2006/relationships/image" Target="../media/image1.png"/><Relationship Id="rId9" Type="http://schemas.openxmlformats.org/officeDocument/2006/relationships/image" Target="../media/image8.jpg"/><Relationship Id="rId5" Type="http://schemas.openxmlformats.org/officeDocument/2006/relationships/image" Target="../media/image15.jpg"/><Relationship Id="rId6" Type="http://schemas.openxmlformats.org/officeDocument/2006/relationships/image" Target="../media/image5.jpg"/><Relationship Id="rId7" Type="http://schemas.openxmlformats.org/officeDocument/2006/relationships/image" Target="../media/image11.jpg"/><Relationship Id="rId8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11" Type="http://schemas.openxmlformats.org/officeDocument/2006/relationships/image" Target="../media/image3.jpg"/><Relationship Id="rId10" Type="http://schemas.openxmlformats.org/officeDocument/2006/relationships/image" Target="../media/image1.png"/><Relationship Id="rId9" Type="http://schemas.openxmlformats.org/officeDocument/2006/relationships/image" Target="../media/image8.jpg"/><Relationship Id="rId5" Type="http://schemas.openxmlformats.org/officeDocument/2006/relationships/image" Target="../media/image15.jpg"/><Relationship Id="rId6" Type="http://schemas.openxmlformats.org/officeDocument/2006/relationships/image" Target="../media/image5.jpg"/><Relationship Id="rId7" Type="http://schemas.openxmlformats.org/officeDocument/2006/relationships/image" Target="../media/image11.jpg"/><Relationship Id="rId8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6.png"/><Relationship Id="rId5" Type="http://schemas.openxmlformats.org/officeDocument/2006/relationships/image" Target="../media/image10.jpg"/><Relationship Id="rId6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875" y="1326779"/>
            <a:ext cx="2776250" cy="27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Geometric Design of Geometric Designs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688" y="423879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Ayodeji </a:t>
            </a:r>
            <a:r>
              <a:rPr b="1" lang="en" sz="27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Lindblad</a:t>
            </a:r>
            <a:endParaRPr b="1" sz="27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250" y="1964975"/>
            <a:ext cx="2366025" cy="11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7203" y="1793113"/>
            <a:ext cx="1547950" cy="154797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Geometry &amp; Topology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7" y="3471875"/>
            <a:ext cx="3767882" cy="121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4"/>
          <p:cNvCxnSpPr/>
          <p:nvPr/>
        </p:nvCxnSpPr>
        <p:spPr>
          <a:xfrm>
            <a:off x="4625498" y="1457137"/>
            <a:ext cx="11400" cy="3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1250" y="3349259"/>
            <a:ext cx="3721047" cy="134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2175" y="1751412"/>
            <a:ext cx="1219777" cy="1444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2475" y="2010950"/>
            <a:ext cx="1105025" cy="1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8700" y="557312"/>
            <a:ext cx="1283350" cy="110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84350" y="548675"/>
            <a:ext cx="1547950" cy="104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835001">
            <a:off x="537719" y="1883551"/>
            <a:ext cx="464589" cy="129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Geometry &amp; Topology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250" y="1964975"/>
            <a:ext cx="2366025" cy="11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7203" y="1793113"/>
            <a:ext cx="1547950" cy="1547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7" y="3471875"/>
            <a:ext cx="3767882" cy="121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5"/>
          <p:cNvCxnSpPr/>
          <p:nvPr/>
        </p:nvCxnSpPr>
        <p:spPr>
          <a:xfrm>
            <a:off x="4625498" y="1457137"/>
            <a:ext cx="11400" cy="32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1250" y="3349259"/>
            <a:ext cx="3721047" cy="134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2175" y="1751412"/>
            <a:ext cx="1219777" cy="1444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2475" y="2010950"/>
            <a:ext cx="1105025" cy="1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8700" y="557312"/>
            <a:ext cx="1283350" cy="110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84350" y="548675"/>
            <a:ext cx="1547950" cy="104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835001">
            <a:off x="537719" y="1883551"/>
            <a:ext cx="464589" cy="12959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1834925" y="-208475"/>
            <a:ext cx="3000900" cy="1870800"/>
          </a:xfrm>
          <a:prstGeom prst="donut">
            <a:avLst>
              <a:gd fmla="val 21303" name="adj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rot="1897034">
            <a:off x="985306" y="1568403"/>
            <a:ext cx="1389435" cy="2667944"/>
          </a:xfrm>
          <a:prstGeom prst="upArrow">
            <a:avLst>
              <a:gd fmla="val 54887" name="adj1"/>
              <a:gd fmla="val 69771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1544388" y="2274779"/>
            <a:ext cx="6055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>
            <p:ph type="ctrTitle"/>
          </p:nvPr>
        </p:nvSpPr>
        <p:spPr>
          <a:xfrm rot="-3503130">
            <a:off x="-3216590" y="1709984"/>
            <a:ext cx="8520959" cy="205251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TODAY</a:t>
            </a:r>
            <a:endParaRPr b="1" sz="3800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ctrTitle"/>
          </p:nvPr>
        </p:nvSpPr>
        <p:spPr>
          <a:xfrm>
            <a:off x="311700" y="1128848"/>
            <a:ext cx="8520600" cy="35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Special subsets of shapes (often points or curves on the </a:t>
            </a:r>
            <a:r>
              <a:rPr i="1" lang="en" sz="3000">
                <a:latin typeface="EB Garamond"/>
                <a:ea typeface="EB Garamond"/>
                <a:cs typeface="EB Garamond"/>
                <a:sym typeface="EB Garamond"/>
              </a:rPr>
              <a:t>d</a:t>
            </a: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-dimensional sphere)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Average polynomials of degree ≤ </a:t>
            </a:r>
            <a:r>
              <a:rPr i="1" lang="en" sz="3000">
                <a:latin typeface="EB Garamond"/>
                <a:ea typeface="EB Garamond"/>
                <a:cs typeface="EB Garamond"/>
                <a:sym typeface="EB Garamond"/>
              </a:rPr>
              <a:t>t</a:t>
            </a: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 exactly!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Tell you how to </a:t>
            </a:r>
            <a:r>
              <a:rPr i="1" lang="en" sz="3000">
                <a:latin typeface="EB Garamond"/>
                <a:ea typeface="EB Garamond"/>
                <a:cs typeface="EB Garamond"/>
                <a:sym typeface="EB Garamond"/>
              </a:rPr>
              <a:t>design</a:t>
            </a: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 experiments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6" name="Google Shape;96;p16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Geometric Designs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67" y="3471875"/>
            <a:ext cx="3767882" cy="12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1811" y="2837600"/>
            <a:ext cx="1841274" cy="18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521638"/>
            <a:ext cx="1956449" cy="4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4775" y="4170965"/>
            <a:ext cx="1830911" cy="448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Design of Geometric Designs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6" name="Google Shape;106;p17"/>
          <p:cNvSpPr txBox="1"/>
          <p:nvPr>
            <p:ph type="ctrTitle"/>
          </p:nvPr>
        </p:nvSpPr>
        <p:spPr>
          <a:xfrm>
            <a:off x="311700" y="1128850"/>
            <a:ext cx="8520600" cy="35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Want explicit designs for applications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Making them is hard!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Special sets like vertices of platonic solids give good designs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Numerical approximations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We know a lot about geometry. Can we use this?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Geometric Design of Geometric Designs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922" y="3199266"/>
            <a:ext cx="3331329" cy="136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725" y="1557400"/>
            <a:ext cx="2819527" cy="136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type="ctrTitle"/>
          </p:nvPr>
        </p:nvSpPr>
        <p:spPr>
          <a:xfrm>
            <a:off x="311700" y="1128850"/>
            <a:ext cx="4680900" cy="35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My work: using geometric symmetries to build designs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Harder to build in higher dimensions, stitch together lower-dimensional designs to build higher-dimensional ones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Applications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75" y="1570100"/>
            <a:ext cx="3042652" cy="306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type="ctrTitle"/>
          </p:nvPr>
        </p:nvSpPr>
        <p:spPr>
          <a:xfrm>
            <a:off x="4044450" y="1128850"/>
            <a:ext cx="4787700" cy="35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New explicit designs for practitioners to use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Lifting asymptotic results to answer questions of interest to mathematicians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Learning more about geometry!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ctrTitle"/>
          </p:nvPr>
        </p:nvSpPr>
        <p:spPr>
          <a:xfrm>
            <a:off x="311708" y="-98392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More to Come…</a:t>
            </a:r>
            <a:endParaRPr b="1" sz="38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486" y="3282977"/>
            <a:ext cx="3162319" cy="12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3375" y="1385755"/>
            <a:ext cx="1882425" cy="1551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type="ctrTitle"/>
          </p:nvPr>
        </p:nvSpPr>
        <p:spPr>
          <a:xfrm>
            <a:off x="311700" y="1128850"/>
            <a:ext cx="5949900" cy="35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Generalizations that reveal the full mathematical truth behind these constructions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More applicable examples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Extensions which could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be useful and easier to build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EB Garamond"/>
              <a:buChar char="●"/>
            </a:pPr>
            <a:r>
              <a:rPr lang="en" sz="3000">
                <a:latin typeface="EB Garamond"/>
                <a:ea typeface="EB Garamond"/>
                <a:cs typeface="EB Garamond"/>
                <a:sym typeface="EB Garamond"/>
              </a:rPr>
              <a:t>More pictures to draw! :)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